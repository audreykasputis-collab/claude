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7baff69-cc5b-42a9-a3bb-34d3e4270bb2}">
          <p14:sldIdLst>
            <p14:sldId id="256"/>
            <p14:sldId id="257"/>
          </p14:sldIdLst>
        </p14:section>
        <p14:section name="Cadrage" id="{ccd359bb-3413-200e-1b37-220a633a983d}">
          <p14:sldIdLst>
            <p14:sldId id="258"/>
            <p14:sldId id="259"/>
            <p14:sldId id="260"/>
          </p14:sldIdLst>
        </p14:section>
        <p14:section name="Résultats" id="{28fed663-eb58-9f47-f1f6-8381cbc0a776}">
          <p14:sldIdLst>
            <p14:sldId id="261"/>
            <p14:sldId id="262"/>
            <p14:sldId id="263"/>
          </p14:sldIdLst>
        </p14:section>
        <p14:section name="Discussion" id="{002817d6-abdc-1566-e299-77bd9509b8c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Contrôleurs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ln w="9525" cap="flat">
                <a:solidFill>
                  <a:srgbClr val="0F3D4C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C6B78"/>
              </a:solidFill>
              <a:ln w="9525" cap="flat">
                <a:solidFill>
                  <a:srgbClr val="0F3D4C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Devenus conseillers</c:v>
                </c:pt>
                <c:pt idx="1">
                  <c:v>Autres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74</c:v>
                </c:pt>
                <c:pt idx="1">
                  <c:v>26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des répondants</c:v>
                </c:pt>
              </c:strCache>
            </c:strRef>
          </c:tx>
          <c:spPr>
            <a:solidFill>
              <a:srgbClr val="5FC1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Formation négociation</c:v>
                  </c:pt>
                  <c:pt idx="1">
                    <c:v>Big Data influence le rôle du contrôleur</c:v>
                  </c:pt>
                  <c:pt idx="2">
                    <c:v>Formation conduite du changement</c:v>
                  </c:pt>
                  <c:pt idx="3">
                    <c:v>Changements sur la cohérence</c:v>
                  </c:pt>
                  <c:pt idx="4">
                    <c:v>Changements sur les processus</c:v>
                  </c:pt>
                  <c:pt idx="5">
                    <c:v>Changements sur les outils</c:v>
                  </c:pt>
                  <c:pt idx="6">
                    <c:v>Contrôleurs impliqués dans la transformation</c:v>
                  </c:pt>
                  <c:pt idx="7">
                    <c:v>Veulent renforcer l'analyse</c:v>
                  </c:pt>
                  <c:pt idx="8">
                    <c:v>Big Data utilisé ou prévu pour l'analyse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26</c:v>
                </c:pt>
                <c:pt idx="2">
                  <c:v>39</c:v>
                </c:pt>
                <c:pt idx="3">
                  <c:v>52</c:v>
                </c:pt>
                <c:pt idx="4">
                  <c:v>53</c:v>
                </c:pt>
                <c:pt idx="5">
                  <c:v>57</c:v>
                </c:pt>
                <c:pt idx="6">
                  <c:v>60</c:v>
                </c:pt>
                <c:pt idx="7">
                  <c:v>73</c:v>
                </c:pt>
                <c:pt idx="8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3EFE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l'analyse de l'article de Kaizar et Hilmi (2023) pour le cours de management de la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HERO1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HERO2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7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58521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MANAGEMENT DE LA PERFORMANCE"/>
          <p:cNvSpPr/>
          <p:nvPr/>
        </p:nvSpPr>
        <p:spPr>
          <a:xfrm>
            <a:off x="548640" y="640080"/>
            <a:ext cx="215140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MANAGEMENT DE LA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28016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contrôle de gestion à l'ère de la transformation digitale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Analyse de l'article de Chaimae Kaizar &amp; Yassine Hilmi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3D5"/>
                </a:solidFill>
              </a:rPr>
              <a:t>Revue Française d'Économie et de Gestion · vol. 4, n° 4 · 2023</a:t>
            </a:r>
            <a:endParaRPr lang="en-US" sz="1400" dirty="0"/>
          </a:p>
        </p:txBody>
      </p:sp>
      <p:sp>
        <p:nvSpPr>
          <p:cNvPr id="6" name="Presenter badge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Present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43205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Présenté par Elian Iturriz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L'ARTICLE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L'article en un coup d'œil</a:t>
            </a:r>
            <a:endParaRPr lang="en-US" sz="2800" dirty="0"/>
          </a:p>
        </p:txBody>
      </p:sp>
      <p:sp>
        <p:nvSpPr>
          <p:cNvPr id="4" name="Title card"/>
          <p:cNvSpPr/>
          <p:nvPr/>
        </p:nvSpPr>
        <p:spPr>
          <a:xfrm>
            <a:off x="457200" y="1280160"/>
            <a:ext cx="3931920" cy="3429000"/>
          </a:xfrm>
          <a:prstGeom prst="roundRect">
            <a:avLst>
              <a:gd name="adj" fmla="val 37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TITRE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Le contrôle de gestion à l'ère des nouvelles technologies et de la transformation digitale »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3D5"/>
                </a:solidFill>
              </a:rPr>
              <a:t>Publié en 2023 · pp. 1-28</a:t>
            </a:r>
            <a:endParaRPr lang="en-US" sz="1400" dirty="0"/>
          </a:p>
        </p:txBody>
      </p:sp>
      <p:sp>
        <p:nvSpPr>
          <p:cNvPr id="8" name="Authors card"/>
          <p:cNvSpPr/>
          <p:nvPr/>
        </p:nvSpPr>
        <p:spPr>
          <a:xfrm>
            <a:off x="4663440" y="1280160"/>
            <a:ext cx="4023360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Authors badge"/>
          <p:cNvSpPr/>
          <p:nvPr/>
        </p:nvSpPr>
        <p:spPr>
          <a:xfrm>
            <a:off x="48463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uthor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6459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7784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AUTEURS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1691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C. Kaizar &amp; Y. Hilmi · ENCG El Jadida, Maroc</a:t>
            </a:r>
            <a:endParaRPr lang="en-US" sz="1400" dirty="0"/>
          </a:p>
        </p:txBody>
      </p:sp>
      <p:sp>
        <p:nvSpPr>
          <p:cNvPr id="13" name="Journal card"/>
          <p:cNvSpPr/>
          <p:nvPr/>
        </p:nvSpPr>
        <p:spPr>
          <a:xfrm>
            <a:off x="4663440" y="2423160"/>
            <a:ext cx="4023360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Journal badge"/>
          <p:cNvSpPr/>
          <p:nvPr/>
        </p:nvSpPr>
        <p:spPr>
          <a:xfrm>
            <a:off x="4846320" y="2651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Journa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7889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77840" y="2560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REVUE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57784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Revue Française d'Économie et de Gestion, vol. 4, n° 4</a:t>
            </a:r>
            <a:endParaRPr lang="en-US" sz="1400" dirty="0"/>
          </a:p>
        </p:txBody>
      </p:sp>
      <p:sp>
        <p:nvSpPr>
          <p:cNvPr id="18" name="Keywords card"/>
          <p:cNvSpPr/>
          <p:nvPr/>
        </p:nvSpPr>
        <p:spPr>
          <a:xfrm>
            <a:off x="4663440" y="3566160"/>
            <a:ext cx="402336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89204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</a:rPr>
              <a:t>MOTS-CLÉS</a:t>
            </a:r>
            <a:endParaRPr lang="en-US" sz="1100" dirty="0"/>
          </a:p>
        </p:txBody>
      </p:sp>
      <p:sp>
        <p:nvSpPr>
          <p:cNvPr id="20" name="Chip Contrôle de gestion"/>
          <p:cNvSpPr/>
          <p:nvPr/>
        </p:nvSpPr>
        <p:spPr>
          <a:xfrm>
            <a:off x="4892040" y="3950208"/>
            <a:ext cx="1553931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Contrôle de gestion</a:t>
            </a:r>
            <a:endParaRPr lang="en-US" sz="1100" dirty="0"/>
          </a:p>
        </p:txBody>
      </p:sp>
      <p:sp>
        <p:nvSpPr>
          <p:cNvPr id="21" name="Chip ERP (PGI)"/>
          <p:cNvSpPr/>
          <p:nvPr/>
        </p:nvSpPr>
        <p:spPr>
          <a:xfrm>
            <a:off x="6537411" y="3950208"/>
            <a:ext cx="890077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ERP (PGI)</a:t>
            </a:r>
            <a:endParaRPr lang="en-US" sz="1100" dirty="0"/>
          </a:p>
        </p:txBody>
      </p:sp>
      <p:sp>
        <p:nvSpPr>
          <p:cNvPr id="22" name="Chip Big Data"/>
          <p:cNvSpPr/>
          <p:nvPr/>
        </p:nvSpPr>
        <p:spPr>
          <a:xfrm>
            <a:off x="7518928" y="3950208"/>
            <a:ext cx="823692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Big Data</a:t>
            </a:r>
            <a:endParaRPr lang="en-US" sz="1100" dirty="0"/>
          </a:p>
        </p:txBody>
      </p:sp>
      <p:sp>
        <p:nvSpPr>
          <p:cNvPr id="23" name="Chip Transformation digitale"/>
          <p:cNvSpPr/>
          <p:nvPr/>
        </p:nvSpPr>
        <p:spPr>
          <a:xfrm>
            <a:off x="4892040" y="4297680"/>
            <a:ext cx="1819473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Transformation digitale</a:t>
            </a:r>
            <a:endParaRPr lang="en-US" sz="1100" dirty="0"/>
          </a:p>
        </p:txBody>
      </p:sp>
      <p:sp>
        <p:nvSpPr>
          <p:cNvPr id="24" name="Chip Nouvelles technologies"/>
          <p:cNvSpPr/>
          <p:nvPr/>
        </p:nvSpPr>
        <p:spPr>
          <a:xfrm>
            <a:off x="6802953" y="4297680"/>
            <a:ext cx="1753088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Nouvelles technologies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PROBLÉMATIQUE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est la problématique 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quel point la transformation digitale des entreprises impacte-t-elle la fonction du contrôle de gestion ?</a:t>
            </a:r>
            <a:endParaRPr lang="en-US" sz="2400" dirty="0"/>
          </a:p>
        </p:txBody>
      </p:sp>
      <p:sp>
        <p:nvSpPr>
          <p:cNvPr id="6" name="Sub-question 1"/>
          <p:cNvSpPr/>
          <p:nvPr/>
        </p:nvSpPr>
        <p:spPr>
          <a:xfrm>
            <a:off x="457200" y="274320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Q1 badge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Q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30518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E4E5"/>
                </a:solidFill>
              </a:rPr>
              <a:t>Comment l'ERP et le Big Data changent structures, emplois et compétences ?</a:t>
            </a:r>
            <a:endParaRPr lang="en-US" sz="1400" dirty="0"/>
          </a:p>
        </p:txBody>
      </p:sp>
      <p:sp>
        <p:nvSpPr>
          <p:cNvPr id="11" name="Sub-question 2"/>
          <p:cNvSpPr/>
          <p:nvPr/>
        </p:nvSpPr>
        <p:spPr>
          <a:xfrm>
            <a:off x="3291840" y="274320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Q2 badge"/>
          <p:cNvSpPr/>
          <p:nvPr/>
        </p:nvSpPr>
        <p:spPr>
          <a:xfrm>
            <a:off x="35204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Q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30518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052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Prise de décision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E4E5"/>
                </a:solidFill>
              </a:rPr>
              <a:t>Plus rapide, plus juste, voire automatisée ?</a:t>
            </a:r>
            <a:endParaRPr lang="en-US" sz="1400" dirty="0"/>
          </a:p>
        </p:txBody>
      </p:sp>
      <p:sp>
        <p:nvSpPr>
          <p:cNvPr id="16" name="Sub-question 3"/>
          <p:cNvSpPr/>
          <p:nvPr/>
        </p:nvSpPr>
        <p:spPr>
          <a:xfrm>
            <a:off x="6126480" y="274320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Q3 badge"/>
          <p:cNvSpPr/>
          <p:nvPr/>
        </p:nvSpPr>
        <p:spPr>
          <a:xfrm>
            <a:off x="635508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Q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30518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9516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contrôleur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611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E4E5"/>
                </a:solidFill>
              </a:rPr>
              <a:t>Technicien, business partner, ou remplacé par les outils 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7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DÉFINITION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la performance est-elle définie ?</a:t>
            </a:r>
            <a:endParaRPr lang="en-US" sz="2800" dirty="0"/>
          </a:p>
        </p:txBody>
      </p:sp>
      <p:sp>
        <p:nvSpPr>
          <p:cNvPr id="4" name="Edge pertinence"/>
          <p:cNvSpPr/>
          <p:nvPr/>
        </p:nvSpPr>
        <p:spPr>
          <a:xfrm flipH="1">
            <a:off x="1188720" y="1508760"/>
            <a:ext cx="1188720" cy="201168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Edge efficacité"/>
          <p:cNvSpPr/>
          <p:nvPr/>
        </p:nvSpPr>
        <p:spPr>
          <a:xfrm>
            <a:off x="2377440" y="1508760"/>
            <a:ext cx="1188720" cy="201168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6" name="Edge efficience"/>
          <p:cNvSpPr/>
          <p:nvPr/>
        </p:nvSpPr>
        <p:spPr>
          <a:xfrm>
            <a:off x="1188720" y="3520440"/>
            <a:ext cx="237744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7" name="Node Objectifs"/>
          <p:cNvSpPr/>
          <p:nvPr/>
        </p:nvSpPr>
        <p:spPr>
          <a:xfrm>
            <a:off x="1737360" y="128016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Objectifs</a:t>
            </a:r>
            <a:endParaRPr lang="en-US" sz="1400" dirty="0"/>
          </a:p>
        </p:txBody>
      </p:sp>
      <p:sp>
        <p:nvSpPr>
          <p:cNvPr id="8" name="Node Ressources"/>
          <p:cNvSpPr/>
          <p:nvPr/>
        </p:nvSpPr>
        <p:spPr>
          <a:xfrm>
            <a:off x="548640" y="32918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Ressources</a:t>
            </a:r>
            <a:endParaRPr lang="en-US" sz="1400" dirty="0"/>
          </a:p>
        </p:txBody>
      </p:sp>
      <p:sp>
        <p:nvSpPr>
          <p:cNvPr id="9" name="Node Résultats"/>
          <p:cNvSpPr/>
          <p:nvPr/>
        </p:nvSpPr>
        <p:spPr>
          <a:xfrm>
            <a:off x="2926080" y="32918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Résultats</a:t>
            </a:r>
            <a:endParaRPr lang="en-US" sz="1400" dirty="0"/>
          </a:p>
        </p:txBody>
      </p:sp>
      <p:sp>
        <p:nvSpPr>
          <p:cNvPr id="10" name="Edge label Pertinence"/>
          <p:cNvSpPr/>
          <p:nvPr/>
        </p:nvSpPr>
        <p:spPr>
          <a:xfrm>
            <a:off x="1074420" y="237744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Pertinence</a:t>
            </a:r>
            <a:endParaRPr lang="en-US" sz="1100" dirty="0"/>
          </a:p>
        </p:txBody>
      </p:sp>
      <p:sp>
        <p:nvSpPr>
          <p:cNvPr id="11" name="Edge label Efficacité"/>
          <p:cNvSpPr/>
          <p:nvPr/>
        </p:nvSpPr>
        <p:spPr>
          <a:xfrm>
            <a:off x="2720340" y="237744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Efficacité</a:t>
            </a:r>
            <a:endParaRPr lang="en-US" sz="1100" dirty="0"/>
          </a:p>
        </p:txBody>
      </p:sp>
      <p:sp>
        <p:nvSpPr>
          <p:cNvPr id="12" name="Edge label Efficience"/>
          <p:cNvSpPr/>
          <p:nvPr/>
        </p:nvSpPr>
        <p:spPr>
          <a:xfrm>
            <a:off x="1897380" y="338328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Efficience</a:t>
            </a:r>
            <a:endParaRPr lang="en-US" sz="1100" dirty="0"/>
          </a:p>
        </p:txBody>
      </p:sp>
      <p:sp>
        <p:nvSpPr>
          <p:cNvPr id="13" name="Definition 1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473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Def1 badge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Def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0" y="1497330"/>
            <a:ext cx="251460" cy="2514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53212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Efficacité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1572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Résultats obtenus conformes aux objectifs fixés</a:t>
            </a:r>
            <a:endParaRPr lang="en-US" sz="1300" dirty="0"/>
          </a:p>
        </p:txBody>
      </p:sp>
      <p:sp>
        <p:nvSpPr>
          <p:cNvPr id="18" name="Definition 2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473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Def2 badge"/>
          <p:cNvSpPr/>
          <p:nvPr/>
        </p:nvSpPr>
        <p:spPr>
          <a:xfrm>
            <a:off x="4846320" y="235000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Def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2475738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32120" y="2258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Efficience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532120" y="25511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Objectifs atteints en respectant les limites de coûts</a:t>
            </a:r>
            <a:endParaRPr lang="en-US" sz="1300" dirty="0"/>
          </a:p>
        </p:txBody>
      </p:sp>
      <p:sp>
        <p:nvSpPr>
          <p:cNvPr id="23" name="Definition 3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473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Def3 badge"/>
          <p:cNvSpPr/>
          <p:nvPr/>
        </p:nvSpPr>
        <p:spPr>
          <a:xfrm>
            <a:off x="4846320" y="3328416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Def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3454146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532120" y="3236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Pertinence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532120" y="35295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Objectifs adaptés aux forces et faiblesses de l'entreprise</a:t>
            </a:r>
            <a:endParaRPr lang="en-US" sz="1300" dirty="0"/>
          </a:p>
        </p:txBody>
      </p:sp>
      <p:sp>
        <p:nvSpPr>
          <p:cNvPr id="28" name="Summary band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2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8580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Performance : atteindre ses objectifs avec des ressources optimales, pour assurer compétitivité et pérennité.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MÉTHODE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méthodologie 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Recherche théorique et qualitative, fondée sur une revue de littérature : aucun questionnaire, entretien ni étude de cas.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457200" y="1737360"/>
            <a:ext cx="256032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tep1 badge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Step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6E4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 de gestion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Définitions (Anthony, Simons, Chiapello) et rôles du contrôleur (Bollecker)</a:t>
            </a:r>
            <a:endParaRPr lang="en-US" sz="1200" dirty="0"/>
          </a:p>
        </p:txBody>
      </p:sp>
      <p:sp>
        <p:nvSpPr>
          <p:cNvPr id="11" name="Arrow 1"/>
          <p:cNvSpPr/>
          <p:nvPr/>
        </p:nvSpPr>
        <p:spPr>
          <a:xfrm>
            <a:off x="3081528" y="2560320"/>
            <a:ext cx="182880" cy="32004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2"/>
          <p:cNvSpPr/>
          <p:nvPr/>
        </p:nvSpPr>
        <p:spPr>
          <a:xfrm>
            <a:off x="3383280" y="1737360"/>
            <a:ext cx="256032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tep2 badge"/>
          <p:cNvSpPr/>
          <p:nvPr/>
        </p:nvSpPr>
        <p:spPr>
          <a:xfrm>
            <a:off x="361188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Step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0574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3776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6E4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digitale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Définitions, facteurs de succès, culture d'entreprise, ERP et Big Data</a:t>
            </a:r>
            <a:endParaRPr lang="en-US" sz="1200" dirty="0"/>
          </a:p>
        </p:txBody>
      </p:sp>
      <p:sp>
        <p:nvSpPr>
          <p:cNvPr id="18" name="Arrow 2"/>
          <p:cNvSpPr/>
          <p:nvPr/>
        </p:nvSpPr>
        <p:spPr>
          <a:xfrm>
            <a:off x="6007608" y="2560320"/>
            <a:ext cx="182880" cy="32004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tep 3"/>
          <p:cNvSpPr/>
          <p:nvPr/>
        </p:nvSpPr>
        <p:spPr>
          <a:xfrm>
            <a:off x="6309360" y="1737360"/>
            <a:ext cx="256032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tep3 badge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Step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574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86384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6E4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impacts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53796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Effets sur l'organisation, la décision et le rôle du contrôleur</a:t>
            </a:r>
            <a:endParaRPr lang="en-US" sz="1200" dirty="0"/>
          </a:p>
        </p:txBody>
      </p:sp>
      <p:sp>
        <p:nvSpPr>
          <p:cNvPr id="25" name="Survey band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147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85800" y="39044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DONNÉES SECONDAIRES · ENQUÊTE DE L'OBSERVATOIRE DU CONTRÔLE DE GESTION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85800" y="4160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132588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pays étudiés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3383280" y="4160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250 M€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475488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 moyen des entreprises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6126480" y="4160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600" dirty="0"/>
          </a:p>
        </p:txBody>
      </p:sp>
      <p:sp>
        <p:nvSpPr>
          <p:cNvPr id="32" name="Text 27"/>
          <p:cNvSpPr txBox="1"/>
          <p:nvPr/>
        </p:nvSpPr>
        <p:spPr>
          <a:xfrm>
            <a:off x="704088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relayée par Cegos (2017)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RÉSULTATS 1 ET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outils puissants, un impact ambivalent</a:t>
            </a:r>
            <a:endParaRPr lang="en-US" sz="2800" dirty="0"/>
          </a:p>
        </p:txBody>
      </p:sp>
      <p:sp>
        <p:nvSpPr>
          <p:cNvPr id="4" name="Tools card"/>
          <p:cNvSpPr/>
          <p:nvPr/>
        </p:nvSpPr>
        <p:spPr>
          <a:xfrm>
            <a:off x="457200" y="1280160"/>
            <a:ext cx="3840480" cy="3429000"/>
          </a:xfrm>
          <a:prstGeom prst="roundRect">
            <a:avLst>
              <a:gd name="adj" fmla="val 37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ools badg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Tool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outils allègent le travail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ERP : référentiel unique, fiable, en temps réel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Moins de tâches répétitives, données comptables transmises, plus d'indicateurs avancés (Scapens et Jazayeri)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Big Data : du descriptif au prédictif, puis au prescriptif</a:t>
            </a:r>
            <a:endParaRPr lang="en-US" sz="1400" dirty="0"/>
          </a:p>
        </p:txBody>
      </p:sp>
      <p:sp>
        <p:nvSpPr>
          <p:cNvPr id="9" name="Org card"/>
          <p:cNvSpPr/>
          <p:nvPr/>
        </p:nvSpPr>
        <p:spPr>
          <a:xfrm>
            <a:off x="4846320" y="1280160"/>
            <a:ext cx="3840480" cy="3429000"/>
          </a:xfrm>
          <a:prstGeom prst="roundRect">
            <a:avLst>
              <a:gd name="adj" fmla="val 37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Org badge"/>
          <p:cNvSpPr/>
          <p:nvPr/>
        </p:nvSpPr>
        <p:spPr>
          <a:xfrm>
            <a:off x="5074920" y="14630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Or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impact organisationnel ambivalent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120640" y="22402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Postes, emplois et compétences transformés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Tâches transférées aux opérationnels : moins de contrôleurs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familles de difficultés : rigidité, qualité des données, culture (Strong et Volkoff)</a:t>
            </a:r>
            <a:endParaRPr lang="en-US" sz="1400" dirty="0"/>
          </a:p>
        </p:txBody>
      </p:sp>
      <p:sp>
        <p:nvSpPr>
          <p:cNvPr id="14" name="But badge"/>
          <p:cNvSpPr/>
          <p:nvPr/>
        </p:nvSpPr>
        <p:spPr>
          <a:xfrm>
            <a:off x="4069080" y="2697480"/>
            <a:ext cx="777240" cy="77724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RÉSULTATS 3 ET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donnée à la décision</a:t>
            </a:r>
            <a:endParaRPr lang="en-US" sz="2800" dirty="0"/>
          </a:p>
        </p:txBody>
      </p:sp>
      <p:sp>
        <p:nvSpPr>
          <p:cNvPr id="4" name="Decision card"/>
          <p:cNvSpPr/>
          <p:nvPr/>
        </p:nvSpPr>
        <p:spPr>
          <a:xfrm>
            <a:off x="457200" y="1280160"/>
            <a:ext cx="3840480" cy="3429000"/>
          </a:xfrm>
          <a:prstGeom prst="roundRect">
            <a:avLst>
              <a:gd name="adj" fmla="val 37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Decision badg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Decis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 plus rapide, encore humaine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Culture « data driven », data analytics, rolling forecast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outils précisent l'information : les managers décident encore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Automatisation de la décision jugée probable</a:t>
            </a:r>
            <a:endParaRPr lang="en-US" sz="1400" dirty="0"/>
          </a:p>
        </p:txBody>
      </p:sp>
      <p:sp>
        <p:nvSpPr>
          <p:cNvPr id="9" name="Role card"/>
          <p:cNvSpPr/>
          <p:nvPr/>
        </p:nvSpPr>
        <p:spPr>
          <a:xfrm>
            <a:off x="4480560" y="1280160"/>
            <a:ext cx="4206240" cy="3429000"/>
          </a:xfrm>
          <a:prstGeom prst="roundRect">
            <a:avLst>
              <a:gd name="adj" fmla="val 37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Role badge"/>
          <p:cNvSpPr/>
          <p:nvPr/>
        </p:nvSpPr>
        <p:spPr>
          <a:xfrm>
            <a:off x="470916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Rol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technicien au business partner</a:t>
            </a:r>
            <a:endParaRPr lang="en-US" sz="1700" dirty="0"/>
          </a:p>
        </p:txBody>
      </p:sp>
      <p:sp>
        <p:nvSpPr>
          <p:cNvPr id="13" name="Chip technicien"/>
          <p:cNvSpPr/>
          <p:nvPr/>
        </p:nvSpPr>
        <p:spPr>
          <a:xfrm>
            <a:off x="4709160" y="22402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Technicien</a:t>
            </a:r>
            <a:endParaRPr lang="en-US" sz="1300" dirty="0"/>
          </a:p>
        </p:txBody>
      </p:sp>
      <p:sp>
        <p:nvSpPr>
          <p:cNvPr id="14" name="Arrow role"/>
          <p:cNvSpPr/>
          <p:nvPr/>
        </p:nvSpPr>
        <p:spPr>
          <a:xfrm>
            <a:off x="6355080" y="2304288"/>
            <a:ext cx="182880" cy="237744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Chip business partner"/>
          <p:cNvSpPr/>
          <p:nvPr/>
        </p:nvSpPr>
        <p:spPr>
          <a:xfrm>
            <a:off x="6629400" y="2240280"/>
            <a:ext cx="18288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Business partner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617720" y="2743200"/>
          <a:ext cx="15544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461772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74 %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8803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des contrôleurs sont devenus conseillers grâce aux TI (Siegel et Sorensen, 1999)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70916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3D5"/>
                </a:solidFill>
              </a:rPr>
              <a:t>Nouvelles compétences : data analysis, machine learning, cloud, conduite du changement.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RÉSULTATS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chiffres de l'enquête 2016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60"/>
          <p:cNvSpPr/>
          <p:nvPr/>
        </p:nvSpPr>
        <p:spPr>
          <a:xfrm>
            <a:off x="6400800" y="1280160"/>
            <a:ext cx="22860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103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des contrôleurs impliqués : 41 % contributeurs, 19 % leaders</a:t>
            </a:r>
            <a:endParaRPr lang="en-US" sz="1200" dirty="0"/>
          </a:p>
        </p:txBody>
      </p:sp>
      <p:sp>
        <p:nvSpPr>
          <p:cNvPr id="8" name="Stat 79"/>
          <p:cNvSpPr/>
          <p:nvPr/>
        </p:nvSpPr>
        <p:spPr>
          <a:xfrm>
            <a:off x="6400800" y="3063240"/>
            <a:ext cx="22860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3154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79 %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886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utilisent ou prévoient le Big Data pour mieux analyser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7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DISCUSSION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Regard critique sur la méthode</a:t>
            </a:r>
            <a:endParaRPr lang="en-US" sz="2800" dirty="0"/>
          </a:p>
        </p:txBody>
      </p:sp>
      <p:sp>
        <p:nvSpPr>
          <p:cNvPr id="4" name="Strengths card"/>
          <p:cNvSpPr/>
          <p:nvPr/>
        </p:nvSpPr>
        <p:spPr>
          <a:xfrm>
            <a:off x="457200" y="1280160"/>
            <a:ext cx="4023360" cy="2651760"/>
          </a:xfrm>
          <a:prstGeom prst="roundRect">
            <a:avLst>
              <a:gd name="adj" fmla="val 482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trengths badg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Strength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forts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Synthèse large et structurée de la littérature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Couvre outils, organisation et acteurs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 conducteur clair, du cadre aux impacts</a:t>
            </a:r>
            <a:endParaRPr lang="en-US" sz="1400" dirty="0"/>
          </a:p>
        </p:txBody>
      </p:sp>
      <p:sp>
        <p:nvSpPr>
          <p:cNvPr id="9" name="Limits card"/>
          <p:cNvSpPr/>
          <p:nvPr/>
        </p:nvSpPr>
        <p:spPr>
          <a:xfrm>
            <a:off x="4663440" y="1280160"/>
            <a:ext cx="4023360" cy="2651760"/>
          </a:xfrm>
          <a:prstGeom prst="roundRect">
            <a:avLst>
              <a:gd name="adj" fmla="val 482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Limits badge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Limi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2402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Aucune donnée collectée par les auteurs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Enquête de 2016, échantillon non précisé, pas de terrain marocain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IA générative non traitée</a:t>
            </a:r>
            <a:endParaRPr lang="en-US" sz="1400" dirty="0"/>
          </a:p>
        </p:txBody>
      </p:sp>
      <p:sp>
        <p:nvSpPr>
          <p:cNvPr id="14" name="Verdict band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2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Une synthèse solide, à compléter par des données de terrain et un regard sur l'IA générative.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CONCLUSION · MERCI DE VOTRE ATTENTION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digital seul ne crée pas la performance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La digitalisation contribue à une certaine évolution, mais ne constitue pas le moteur. »</a:t>
            </a:r>
            <a:endParaRPr lang="en-US" sz="1700" dirty="0"/>
          </a:p>
        </p:txBody>
      </p:sp>
      <p:sp>
        <p:nvSpPr>
          <p:cNvPr id="5" name="Takeaway 1"/>
          <p:cNvSpPr/>
          <p:nvPr/>
        </p:nvSpPr>
        <p:spPr>
          <a:xfrm>
            <a:off x="548640" y="269748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1 badge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T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30518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11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E4E5"/>
                </a:solidFill>
              </a:rPr>
              <a:t>entre outils numériques et pratiques, sans dépendance</a:t>
            </a:r>
            <a:endParaRPr lang="en-US" sz="1400" dirty="0"/>
          </a:p>
        </p:txBody>
      </p:sp>
      <p:sp>
        <p:nvSpPr>
          <p:cNvPr id="10" name="Takeaway 2"/>
          <p:cNvSpPr/>
          <p:nvPr/>
        </p:nvSpPr>
        <p:spPr>
          <a:xfrm>
            <a:off x="3337560" y="269748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2 badge"/>
          <p:cNvSpPr/>
          <p:nvPr/>
        </p:nvSpPr>
        <p:spPr>
          <a:xfrm>
            <a:off x="356616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T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30518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0624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611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E4E5"/>
                </a:solidFill>
              </a:rPr>
              <a:t>plus fiable et plus rapide pour les décideurs</a:t>
            </a:r>
            <a:endParaRPr lang="en-US" sz="1400" dirty="0"/>
          </a:p>
        </p:txBody>
      </p:sp>
      <p:sp>
        <p:nvSpPr>
          <p:cNvPr id="15" name="Takeaway 3"/>
          <p:cNvSpPr/>
          <p:nvPr/>
        </p:nvSpPr>
        <p:spPr>
          <a:xfrm>
            <a:off x="6126480" y="269748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3 badge"/>
          <p:cNvSpPr/>
          <p:nvPr/>
        </p:nvSpPr>
        <p:spPr>
          <a:xfrm>
            <a:off x="635508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T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305181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9516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L'humain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611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E4E5"/>
                </a:solidFill>
              </a:rPr>
              <a:t>interprète, conseille et décide : il reste primordial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Performance Digitale">
  <a:themeElements>
    <a:clrScheme name="Performance Digitale">
      <a:dk1>
        <a:srgbClr val="1B2A33"/>
      </a:dk1>
      <a:lt1>
        <a:srgbClr val="FFFFFF"/>
      </a:lt1>
      <a:dk2>
        <a:srgbClr val="0F3D4C"/>
      </a:dk2>
      <a:lt2>
        <a:srgbClr val="EEF4F1"/>
      </a:lt2>
      <a:accent1>
        <a:srgbClr val="0F6E7A"/>
      </a:accent1>
      <a:accent2>
        <a:srgbClr val="E8A33D"/>
      </a:accent2>
      <a:accent3>
        <a:srgbClr val="5B8E7D"/>
      </a:accent3>
      <a:accent4>
        <a:srgbClr val="C9503C"/>
      </a:accent4>
      <a:accent5>
        <a:srgbClr val="2F5D8C"/>
      </a:accent5>
      <a:accent6>
        <a:srgbClr val="8AA6A3"/>
      </a:accent6>
      <a:hlink>
        <a:srgbClr val="0F6E7A"/>
      </a:hlink>
      <a:folHlink>
        <a:srgbClr val="5B8E7D"/>
      </a:folHlink>
    </a:clrScheme>
    <a:fontScheme name="Performance Digita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d'article – Management de la performance</dc:title>
  <dc:subject>PptxGenJS Presentation</dc:subject>
  <dc:creator>PptxGenJS</dc:creator>
  <cp:lastModifiedBy>PptxGenJS</cp:lastModifiedBy>
  <cp:revision>1</cp:revision>
  <dcterms:created xsi:type="dcterms:W3CDTF">2026-10-08T15:14:49Z</dcterms:created>
  <dcterms:modified xsi:type="dcterms:W3CDTF">2026-10-08T15:14:49Z</dcterms:modified>
</cp:coreProperties>
</file>