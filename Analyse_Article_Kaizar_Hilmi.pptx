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c617fc9-2ebe-d340-b1b8-52eb46847212}">
          <p14:sldIdLst>
            <p14:sldId id="256"/>
            <p14:sldId id="257"/>
          </p14:sldIdLst>
        </p14:section>
        <p14:section name="Cadrage" id="{30d1af47-227f-ab51-14de-318541965cdb}">
          <p14:sldIdLst>
            <p14:sldId id="258"/>
            <p14:sldId id="259"/>
            <p14:sldId id="260"/>
          </p14:sldIdLst>
        </p14:section>
        <p14:section name="Résultats" id="{e1cb1a6d-df1b-d327-9177-6d000866ba01}">
          <p14:sldIdLst>
            <p14:sldId id="261"/>
            <p14:sldId id="262"/>
            <p14:sldId id="263"/>
          </p14:sldIdLst>
        </p14:section>
        <p14:section name="Discussion" id="{8257c43e-cbbc-208d-409b-90035db133e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des répondants</c:v>
                </c:pt>
              </c:strCache>
            </c:strRef>
          </c:tx>
          <c:spPr>
            <a:solidFill>
              <a:srgbClr val="0F6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Formation négociation</c:v>
                  </c:pt>
                  <c:pt idx="1">
                    <c:v>Big Data influence le rôle du contrôleur</c:v>
                  </c:pt>
                  <c:pt idx="2">
                    <c:v>Formation conduite du changement</c:v>
                  </c:pt>
                  <c:pt idx="3">
                    <c:v>Changements sur la cohérence</c:v>
                  </c:pt>
                  <c:pt idx="4">
                    <c:v>Changements sur les processus</c:v>
                  </c:pt>
                  <c:pt idx="5">
                    <c:v>Changements sur les outils</c:v>
                  </c:pt>
                  <c:pt idx="6">
                    <c:v>Contrôleurs impliqués dans la transformation</c:v>
                  </c:pt>
                  <c:pt idx="7">
                    <c:v>Veulent renforcer l'analyse</c:v>
                  </c:pt>
                  <c:pt idx="8">
                    <c:v>Big Data utilisé ou prévu (analyse)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</c:v>
                </c:pt>
                <c:pt idx="1">
                  <c:v>26</c:v>
                </c:pt>
                <c:pt idx="2">
                  <c:v>39</c:v>
                </c:pt>
                <c:pt idx="3">
                  <c:v>52</c:v>
                </c:pt>
                <c:pt idx="4">
                  <c:v>53</c:v>
                </c:pt>
                <c:pt idx="5">
                  <c:v>57</c:v>
                </c:pt>
                <c:pt idx="6">
                  <c:v>60</c:v>
                </c:pt>
                <c:pt idx="7">
                  <c:v>73</c:v>
                </c:pt>
                <c:pt idx="8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 l'analyse de l'article de Kaizar et Hilmi (2023) dans le cadre du cours de management de la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ANALYSE D'ARTICLE · MANAGEMENT DE LA PERFORMANCE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contrôle de gestion à l'ère des nouvelles technologies et de la transformation digitale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Chaimae Kaizar &amp; Yassine Hilmi · Revue Française d'Économie et de Gestion, vol. 4, n° 4 (2023)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Présenté par Elian Iturriz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L'article en un coup d'œil</a:t>
            </a:r>
            <a:endParaRPr lang="en-US" sz="2800" dirty="0"/>
          </a:p>
        </p:txBody>
      </p:sp>
      <p:sp>
        <p:nvSpPr>
          <p:cNvPr id="3" name="Ref card 1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TITRE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Le contrôle de gestion à l'ère des nouvelles technologies et de la transformation digitale »</a:t>
            </a:r>
            <a:endParaRPr lang="en-US" sz="1400" dirty="0"/>
          </a:p>
        </p:txBody>
      </p:sp>
      <p:sp>
        <p:nvSpPr>
          <p:cNvPr id="6" name="Ref card 2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AUTEURS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C. Kaizar &amp; Y. Hilmi, ENCG El Jadida, Université Chouaib Doukkali (Maroc), laboratoire LERSEM</a:t>
            </a:r>
            <a:endParaRPr lang="en-US" sz="1400" dirty="0"/>
          </a:p>
        </p:txBody>
      </p:sp>
      <p:sp>
        <p:nvSpPr>
          <p:cNvPr id="9" name="Ref card 3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REVUE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Revue Française d'Économie et de Gestion, vol. 4, n° 4, pp. 1-28 (soumis 2022, publié 2023)</a:t>
            </a:r>
            <a:endParaRPr lang="en-US" sz="1400" dirty="0"/>
          </a:p>
        </p:txBody>
      </p:sp>
      <p:sp>
        <p:nvSpPr>
          <p:cNvPr id="12" name="Ref card 4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MOTS-CLÉS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Contrôle de gestion · transformation digitale · nouvelles technologies · ERP (PGI) · Big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est la problématique ?</a:t>
            </a:r>
            <a:endParaRPr lang="en-US" sz="2800" dirty="0"/>
          </a:p>
        </p:txBody>
      </p:sp>
      <p:sp>
        <p:nvSpPr>
          <p:cNvPr id="3" name="Question card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QUESTION CENTRALE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À quel point la transformation digitale des entreprises impacte-t-elle la fonction du contrôle de gestion ? 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 digital n'est pas qu'un achat d'outils : il transforme processus, organisation et culture.</a:t>
            </a:r>
            <a:endParaRPr lang="en-US" sz="1400" dirty="0"/>
          </a:p>
        </p:txBody>
      </p:sp>
      <p:sp>
        <p:nvSpPr>
          <p:cNvPr id="7" name="Num 1"/>
          <p:cNvSpPr/>
          <p:nvPr/>
        </p:nvSpPr>
        <p:spPr>
          <a:xfrm>
            <a:off x="466344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645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Comment l'ERP et le Big Data modifient-ils structures, emplois et compétences ?</a:t>
            </a:r>
            <a:endParaRPr lang="en-US" sz="1400" dirty="0"/>
          </a:p>
        </p:txBody>
      </p:sp>
      <p:sp>
        <p:nvSpPr>
          <p:cNvPr id="11" name="Num 2"/>
          <p:cNvSpPr/>
          <p:nvPr/>
        </p:nvSpPr>
        <p:spPr>
          <a:xfrm>
            <a:off x="4663440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Prise de décision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7432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décision devient-elle plus rapide, plus juste, voire automatisée ?</a:t>
            </a:r>
            <a:endParaRPr lang="en-US" sz="1400" dirty="0"/>
          </a:p>
        </p:txBody>
      </p:sp>
      <p:sp>
        <p:nvSpPr>
          <p:cNvPr id="15" name="Num 3"/>
          <p:cNvSpPr/>
          <p:nvPr/>
        </p:nvSpPr>
        <p:spPr>
          <a:xfrm>
            <a:off x="466344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 du contrôleur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840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Technicien pourvoyeur de chiffres, business partner, ou remplacé par les outils 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la performance est-elle définie 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Pas de section dédiée : la performance se reconstruit via la définition d'Anthony (1965).</a:t>
            </a:r>
            <a:endParaRPr lang="en-US" sz="1400" dirty="0"/>
          </a:p>
        </p:txBody>
      </p:sp>
      <p:sp>
        <p:nvSpPr>
          <p:cNvPr id="4" name="Perf card 1"/>
          <p:cNvSpPr/>
          <p:nvPr/>
        </p:nvSpPr>
        <p:spPr>
          <a:xfrm>
            <a:off x="457200" y="160020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erf dot 1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Efficacité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résultats obtenus correspondent aux objectifs fixés.</a:t>
            </a:r>
            <a:endParaRPr lang="en-US" sz="1400" dirty="0"/>
          </a:p>
        </p:txBody>
      </p:sp>
      <p:sp>
        <p:nvSpPr>
          <p:cNvPr id="8" name="Perf card 2"/>
          <p:cNvSpPr/>
          <p:nvPr/>
        </p:nvSpPr>
        <p:spPr>
          <a:xfrm>
            <a:off x="3291840" y="160020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erf dot 2"/>
          <p:cNvSpPr/>
          <p:nvPr/>
        </p:nvSpPr>
        <p:spPr>
          <a:xfrm>
            <a:off x="3520440" y="17830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objectifs sont atteints en respectant les limites de coûts.</a:t>
            </a:r>
            <a:endParaRPr lang="en-US" sz="1400" dirty="0"/>
          </a:p>
        </p:txBody>
      </p:sp>
      <p:sp>
        <p:nvSpPr>
          <p:cNvPr id="12" name="Perf card 3"/>
          <p:cNvSpPr/>
          <p:nvPr/>
        </p:nvSpPr>
        <p:spPr>
          <a:xfrm>
            <a:off x="6126480" y="160020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Perf dot 3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Pertinence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objectifs tiennent compte des forces et faiblesses de l'entreprise.</a:t>
            </a:r>
            <a:endParaRPr lang="en-US" sz="1400" dirty="0"/>
          </a:p>
        </p:txBody>
      </p:sp>
      <p:sp>
        <p:nvSpPr>
          <p:cNvPr id="16" name="Summary band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Atteindre ses objectifs (efficacité) avec des ressources optimales (efficience), pour assurer compétitivité et pérennité, grâce à une information fiable et rapide.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méthodologie 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Recherche théorique, qualitative, fondée sur une revue de littérature : ni questionnaire, ni entretien, ni étude de cas.</a:t>
            </a:r>
            <a:endParaRPr lang="en-US" sz="1400" dirty="0"/>
          </a:p>
        </p:txBody>
      </p:sp>
      <p:sp>
        <p:nvSpPr>
          <p:cNvPr id="4" name="Step card 1"/>
          <p:cNvSpPr/>
          <p:nvPr/>
        </p:nvSpPr>
        <p:spPr>
          <a:xfrm>
            <a:off x="45720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 1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 de gestion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Définitions (Anthony, Simons, Chiapello, Mintzberg) et rôles du contrôleur (Bollecker, 2007)</a:t>
            </a:r>
            <a:endParaRPr lang="en-US" sz="1200" dirty="0"/>
          </a:p>
        </p:txBody>
      </p:sp>
      <p:sp>
        <p:nvSpPr>
          <p:cNvPr id="9" name="Step card 2"/>
          <p:cNvSpPr/>
          <p:nvPr/>
        </p:nvSpPr>
        <p:spPr>
          <a:xfrm>
            <a:off x="329184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 2"/>
          <p:cNvSpPr/>
          <p:nvPr/>
        </p:nvSpPr>
        <p:spPr>
          <a:xfrm>
            <a:off x="35204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digitale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Définitions, facteurs de succès, culture d'entreprise, outils : ERP et Big Data</a:t>
            </a:r>
            <a:endParaRPr lang="en-US" sz="1200" dirty="0"/>
          </a:p>
        </p:txBody>
      </p:sp>
      <p:sp>
        <p:nvSpPr>
          <p:cNvPr id="14" name="Step card 3"/>
          <p:cNvSpPr/>
          <p:nvPr/>
        </p:nvSpPr>
        <p:spPr>
          <a:xfrm>
            <a:off x="612648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 3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impacts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Sur l'organisation, la prise de décision et le rôle du contrôleur</a:t>
            </a:r>
            <a:endParaRPr lang="en-US" sz="1200" dirty="0"/>
          </a:p>
        </p:txBody>
      </p:sp>
      <p:sp>
        <p:nvSpPr>
          <p:cNvPr id="19" name="Data band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DONNÉES SECONDAIRES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1330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Enquête de l'Observatoire international du contrôle de gestion (2016), relayée par Selmer (Cegos, 2017) : 38 pays, CA moyen d'environ 250 M€.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outils et organisation</a:t>
            </a:r>
            <a:endParaRPr lang="en-US" sz="2800" dirty="0"/>
          </a:p>
        </p:txBody>
      </p:sp>
      <p:sp>
        <p:nvSpPr>
          <p:cNvPr id="3" name="Result card 1"/>
          <p:cNvSpPr/>
          <p:nvPr/>
        </p:nvSpPr>
        <p:spPr>
          <a:xfrm>
            <a:off x="45720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outils allègent le travail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ERP : référentiel unique, fiable, en temps réel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Selon Scapens et Jazayeri (2003) : moins de tâches répétitives, données comptables transmises, plus d'indicateurs avancés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Big Data : du descriptif au prédictif, puis au prescriptif</a:t>
            </a:r>
            <a:endParaRPr lang="en-US" sz="1400" dirty="0"/>
          </a:p>
        </p:txBody>
      </p:sp>
      <p:sp>
        <p:nvSpPr>
          <p:cNvPr id="8" name="Result card 2"/>
          <p:cNvSpPr/>
          <p:nvPr/>
        </p:nvSpPr>
        <p:spPr>
          <a:xfrm>
            <a:off x="466344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 2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impact organisationnel ambivalent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10312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Postes, emplois et compétences transformés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Tâches transférées aux opérationnels, donc moins de contrôleurs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 et Volkoff (2010) : six familles de difficultés (rigidité, qualité des données, culture)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décision et rôle du contrôleur</a:t>
            </a:r>
            <a:endParaRPr lang="en-US" sz="2800" dirty="0"/>
          </a:p>
        </p:txBody>
      </p:sp>
      <p:sp>
        <p:nvSpPr>
          <p:cNvPr id="3" name="Decision card"/>
          <p:cNvSpPr/>
          <p:nvPr/>
        </p:nvSpPr>
        <p:spPr>
          <a:xfrm>
            <a:off x="45720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 plus rapide, encore humaine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Culture « data driven », data analytics, rolling forecast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Les outils précisent l'information, mais les managers décident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Automatisation croissante jugée probable</a:t>
            </a:r>
            <a:endParaRPr lang="en-US" sz="1400" dirty="0"/>
          </a:p>
        </p:txBody>
      </p:sp>
      <p:sp>
        <p:nvSpPr>
          <p:cNvPr id="8" name="Role card"/>
          <p:cNvSpPr/>
          <p:nvPr/>
        </p:nvSpPr>
        <p:spPr>
          <a:xfrm>
            <a:off x="466344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Num 4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technicien au business partner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103120"/>
            <a:ext cx="1554480" cy="411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Technicien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103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103120"/>
            <a:ext cx="1645920" cy="4114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Business partner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834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des contrôleurs devenus conseillers grâce aux TI (Siegel et Sorensen, 1999)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Nouvelles compétences : data analysis, machine learning, cloud, conduite du changement, négociation.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les chiffres de l'enquête 2016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1"/>
          <p:cNvSpPr/>
          <p:nvPr/>
        </p:nvSpPr>
        <p:spPr>
          <a:xfrm>
            <a:off x="6309360" y="1234440"/>
            <a:ext cx="23774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9224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2057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des contrôleurs impliqués : 41 % contributeurs, 19 % leaders</a:t>
            </a:r>
            <a:endParaRPr lang="en-US" sz="1200" dirty="0"/>
          </a:p>
        </p:txBody>
      </p:sp>
      <p:sp>
        <p:nvSpPr>
          <p:cNvPr id="7" name="Stat 2"/>
          <p:cNvSpPr/>
          <p:nvPr/>
        </p:nvSpPr>
        <p:spPr>
          <a:xfrm>
            <a:off x="6309360" y="3017520"/>
            <a:ext cx="2377440" cy="16002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3840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utilisent ou prévoient le Big Data pour mieux analyser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Regard critique sur la méthode</a:t>
            </a:r>
            <a:endParaRPr lang="en-US" sz="2800" dirty="0"/>
          </a:p>
        </p:txBody>
      </p:sp>
      <p:sp>
        <p:nvSpPr>
          <p:cNvPr id="3" name="Strengths"/>
          <p:cNvSpPr/>
          <p:nvPr/>
        </p:nvSpPr>
        <p:spPr>
          <a:xfrm>
            <a:off x="457200" y="1234440"/>
            <a:ext cx="40233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forts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Synthèse large et structurée de la littérature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Couvre à la fois outils, organisation et acteurs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Un fil conducteur clair, du cadre aux impacts</a:t>
            </a:r>
            <a:endParaRPr lang="en-US" sz="1400" dirty="0"/>
          </a:p>
        </p:txBody>
      </p:sp>
      <p:sp>
        <p:nvSpPr>
          <p:cNvPr id="6" name="Limits"/>
          <p:cNvSpPr/>
          <p:nvPr/>
        </p:nvSpPr>
        <p:spPr>
          <a:xfrm>
            <a:off x="4663440" y="1234440"/>
            <a:ext cx="40233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Aucune donnée collectée par les auteurs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Enquête de 2016 : taille d'échantillon non précisée, pas de terrain marocain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IA générative, plus récente, non traitée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digital seul ne crée pas la performance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La digitalisation contribue à une certaine évolution, mais ne constitue pas le moteur. » (Kaizar et Hilmi)</a:t>
            </a:r>
            <a:endParaRPr lang="en-US" sz="1600" dirty="0"/>
          </a:p>
        </p:txBody>
      </p:sp>
      <p:sp>
        <p:nvSpPr>
          <p:cNvPr id="4" name="Takeaway 1"/>
          <p:cNvSpPr/>
          <p:nvPr/>
        </p:nvSpPr>
        <p:spPr>
          <a:xfrm>
            <a:off x="548640" y="333756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86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entre outils numériques et évolution des pratiques, sans dépendance</a:t>
            </a:r>
            <a:endParaRPr lang="en-US" sz="1400" dirty="0"/>
          </a:p>
        </p:txBody>
      </p:sp>
      <p:sp>
        <p:nvSpPr>
          <p:cNvPr id="7" name="Takeaway 2"/>
          <p:cNvSpPr/>
          <p:nvPr/>
        </p:nvSpPr>
        <p:spPr>
          <a:xfrm>
            <a:off x="3291840" y="333756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886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plus fiable et plus rapide pour les décideurs</a:t>
            </a:r>
            <a:endParaRPr lang="en-US" sz="1400" dirty="0"/>
          </a:p>
        </p:txBody>
      </p:sp>
      <p:sp>
        <p:nvSpPr>
          <p:cNvPr id="10" name="Takeaway 3"/>
          <p:cNvSpPr/>
          <p:nvPr/>
        </p:nvSpPr>
        <p:spPr>
          <a:xfrm>
            <a:off x="6035040" y="333756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L'humain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886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interprète, conseille et décide : il reste primordial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ormance Digitale">
  <a:themeElements>
    <a:clrScheme name="Performance Digitale">
      <a:dk1>
        <a:srgbClr val="1B2A33"/>
      </a:dk1>
      <a:lt1>
        <a:srgbClr val="FFFFFF"/>
      </a:lt1>
      <a:dk2>
        <a:srgbClr val="0F3D4C"/>
      </a:dk2>
      <a:lt2>
        <a:srgbClr val="EEF4F1"/>
      </a:lt2>
      <a:accent1>
        <a:srgbClr val="0F6E7A"/>
      </a:accent1>
      <a:accent2>
        <a:srgbClr val="E8A33D"/>
      </a:accent2>
      <a:accent3>
        <a:srgbClr val="5B8E7D"/>
      </a:accent3>
      <a:accent4>
        <a:srgbClr val="C9503C"/>
      </a:accent4>
      <a:accent5>
        <a:srgbClr val="2F5D8C"/>
      </a:accent5>
      <a:accent6>
        <a:srgbClr val="8AA6A3"/>
      </a:accent6>
      <a:hlink>
        <a:srgbClr val="0F6E7A"/>
      </a:hlink>
      <a:folHlink>
        <a:srgbClr val="5B8E7D"/>
      </a:folHlink>
    </a:clrScheme>
    <a:fontScheme name="Performance Digita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d'article – Management de la performance</dc:title>
  <dc:subject>PptxGenJS Presentation</dc:subject>
  <dc:creator>PptxGenJS</dc:creator>
  <cp:lastModifiedBy>PptxGenJS</cp:lastModifiedBy>
  <cp:revision>1</cp:revision>
  <dcterms:created xsi:type="dcterms:W3CDTF">2026-10-08T15:08:49Z</dcterms:created>
  <dcterms:modified xsi:type="dcterms:W3CDTF">2026-10-08T15:08:49Z</dcterms:modified>
</cp:coreProperties>
</file>